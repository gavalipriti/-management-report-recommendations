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3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4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5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6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7.xml" ContentType="application/vnd.openxmlformats-officedocument.presentationml.notesSlide+xml"/>
  <Override PartName="/ppt/ink/ink23.xml" ContentType="application/inkml+xml"/>
  <Override PartName="/ppt/notesSlides/notesSlide8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35.49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4028 342 24575,'-348'-12'0,"221"1"0,38 4 0,-1-3 0,-90-24 0,-212-35 0,141 31 0,-15 5 0,-50-10 0,246 32 0,0 3 0,0 3 0,-106 6 0,-80-5 0,-208-24 0,245 15 0,-146-4 0,86 18-1365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38.69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5054 220 24575,'-34'-3'0,"0"-1"0,0-1 0,1-2 0,0-2 0,-40-15 0,2 1 0,-115-31 0,86 16 0,80 28 0,-1 2 0,0 0 0,-1 1 0,1 1 0,-1 1 0,-30-2 0,-299 6 0,159 3 0,-1123-2 0,1070 16 0,106-3 0,-2-4 0,-273 56 0,371-57 0,-1-1 0,-78 1 0,76-7 0,1 2 0,-76 16 0,-223 60 0,300-70 0,-59 5 0,56-9 0,-52 12 0,-3 6 0,36-9 0,-83 28 0,135-37-273,-2 0 0,1-2 0,0 0 0,-29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41.10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5144 0 24575,'-583'40'0,"-359"14"0,-1366-55 0,2260 3 0,-69 12 0,-33 3 0,-404-16 0,264-3 0,268 3 59,1 1 1,-39 9-1,12-1-1602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43.20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3597 1 24575,'-1284'0'0,"1103"14"0,38-1 0,-684-7 0,459-9 0,303 3 0,1 2 0,0 3 0,-81 18 0,87-12 171,-111 7 0,-60-15-1878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21.26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4525 158 24575,'-506'-29'0,"187"4"0,-352 17 0,435 9 0,154-6 0,0-3 0,-120-27 0,111 17 0,-148-11 0,-235 28 0,220 3 0,107-3 0,-172 3 0,161 12 0,-27 1 0,117-14 0,38-2 0,0 2 0,0 0 0,0 2 0,0 2 0,-43 11 0,40-6-227,-1-1-1,1-2 1,-1-1-1,0-2 1,-66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24.78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4240 2 24575,'-110'-1'0,"-128"3"0,121 13 0,70-8 0,-64 2 0,-779-9 0,387-1 0,483 2 0,1 1 0,0 1 0,-28 8 0,-11 2 0,14-5 0,-13 2 0,-100 6 0,33-15 0,-192 9 0,-655 11 0,633-23 0,329 2-273,1 0 0,-1 1 0,0 0 0,-9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27.33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4362 1 24575,'-4361'0'-1365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04.69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4178 158 24575,'-40'-1'0,"1"-2"0,-1-1 0,-75-19 0,101 19 0,-45-10 0,-80-32 0,106 33 0,-1 2 0,0 1 0,-1 1 0,1 2 0,-2 2 0,1 1 0,-53 0 0,-951 7 0,975 0 0,0 4 0,0 2 0,-65 19 0,63-12 0,0-4 0,-113 8 0,-350-22 0,500 4 0,0 1 0,0 2 0,1 0 0,-30 11 0,23-6 0,-67 9 0,-4-4 0,62-7 0,-66 2 0,49-10 0,29-1 0,0 1 0,-32 5 0,54-3 0,0 0 0,0 0 0,1 1 0,-1 0 0,1 0 0,0 1 0,0 1 0,0-1 0,0 2 0,-13 10 0,15-11 19,1-1 1,0 0-1,-1 0 0,0 0 0,0-1 0,0 0 1,0 0-1,-1-1 0,1 0 0,-1 0 0,-10 1 1,-8-1-6,1-1 1,-30-3 0,36 0-343,0 2 0,0 0 0,-1 1 0,-29 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07.49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4493 0 24575,'-7'1'0,"0"0"0,0 0 0,0 1 0,0 0 0,1 0 0,-1 0 0,-12 7 0,-8 3 0,-499 169 0,385-142 0,49-16 0,28-8 0,-126 12 0,6-2 0,-141 26 0,200-41 0,-183-8 0,159-4 0,-122-14 0,-10 0 0,220 17 0,35 1 0,1-1 0,-1-2 0,0 0 0,1-2 0,-31-7 0,29 4 0,0 1 0,-41-3 0,-30-5 0,27 3 0,1 2 0,-1 4 0,-96 6 0,46 1 0,-656-3-1365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09.93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3254 0 24575,'-1018'0'0,"975"3"0,1 1 0,-83 20 0,74-13 0,-70 7 0,-29-2 0,74-6 0,-79-1 0,61-10 0,-158 19 0,53 15 0,136-25 0,-1-3 0,-126-5 0,77-3 0,68 3 0,3-1 0,1 2 0,-82 12 0,70-5-455,0-2 0,-87-1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6:12.06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3287 258 24575,'-48'0'0,"-94"-16"0,-139-11 0,-117-16 0,-53-1-983,-9 2 0,43 8 0,71 9 0,79 10 0,73 7 0,66 5 677,48 2 306,33 3 0,20 0 983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5:49.15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4329 218 24575,'-88'-4'0,"-134"-24"0,135 15 0,-135-5 0,161 19 0,36 1 0,0-1 0,0-2 0,0 0 0,0-2 0,-27-6 0,15 1 0,1 2 0,-1 2 0,0 1 0,0 2 0,-39 4 0,-81-4 0,131-3 0,1-1 0,0 0 0,-25-10 0,22 6 0,-50-9 0,-12 10 0,-159 7 0,108 4 0,126-3 0,-131 4 0,123-1 0,0 0 0,0 1 0,0 2 0,-26 9 0,0 1 0,0-2 0,-1-2 0,-54 6 0,88-15 0,1 1 0,-1 1 0,-25 10 0,25-8 0,0-1 0,-31 7 0,-160 24 0,178-31 0,-53 19 0,59-17 0,-1-1 0,0 0 0,-42 4 0,-199-9 0,127-4 0,131 2 0,0 0 0,1-1 0,-1 1 0,0-1 0,-9-3 0,14 3 0,-1 0 0,0-1 0,0 1 0,1 0 0,-1-1 0,1 0 0,0 0 0,-1 0 0,1 0 0,0 0 0,0 0 0,0 0 0,0-1 0,-2-3 0,1 2 0,0-1 0,0 1 0,0 1 0,-1-1 0,1 0 0,-1 1 0,0-1 0,0 1 0,0 0 0,-1 1 0,-7-5 0,-1 2 0,-1 0 0,-25-5 0,-11-4 0,43 11 0,0 0 0,0-1 0,1 0 0,-1-1 0,1 1 0,0-1 0,-8-9 0,7 7 0,0 1 0,0-1 0,-1 2 0,-8-6 0,15 11 0,1-1 0,-1 1 0,0-1 0,0 1 0,0-1 0,0 1 0,0 0 0,1 0 0,-1-1 0,0 1 0,0 0 0,0 0 0,0 0 0,0 0 0,0 0 0,0 0 0,0 0 0,0 0 0,0 1 0,0-1 0,0 0 0,0 0 0,1 1 0,-1-1 0,0 1 0,-1 0 0,1 0 0,-1 1 0,1-1 0,0 1 0,0-1 0,0 1 0,0-1 0,0 1 0,0 0 0,1 0 0,-1-1 0,0 1 0,0 3 0,-1 7 0,1 0 0,0 0 0,0 16 0,1-21 0,3 89 0,-1-45 0,-4 58 0,1-104 0,1 0 0,-1 0 0,0 0 0,-1 0 0,1 0 0,-1 0 0,0 0 0,0 0 0,-1 0 0,1-1 0,-1 0 0,0 1 0,0-1 0,-1 0 0,1 0 0,-1-1 0,0 1 0,0-1 0,0 1 0,0-1 0,-1-1 0,-4 4 0,-10 2 0,0-1 0,0 0 0,0-2 0,-31 5 0,-30 10 0,-10 6 0,165-23 0,1889-6 0,-1036 5 0,-556-2 0,-321-6 0,-50 6 0,1-1 0,0 1 0,-1-1 0,1 1 0,0-1 0,-1 0 0,1 1 0,-1-1 0,1 0 0,-1 0 0,0 0 0,2-2 0,-3 2 0,1 1 0,-1-1 0,0 1 0,0-1 0,1 0 0,-1 1 0,0-1 0,0 0 0,0 1 0,0-1 0,0 0 0,0 1 0,0-1 0,0 0 0,0 1 0,0-1 0,0 0 0,0 1 0,-1-1 0,1 0 0,0 1 0,0-1 0,-1 1 0,1-1 0,0 0 0,-1 1 0,1-1 0,-1 1 0,1-1 0,-1 1 0,0-1 0,-4-3 0,0 0 0,-1 0 0,1 1 0,-1 0 0,0 0 0,0 1 0,0-1 0,0 1 0,-12-2 0,-7-4 0,-11-4 0,1 0 0,-75-11 0,-431-34 0,-7 50 0,322 9 0,158-1 0,-80-3 0,125-1 0,-37-12 0,31 8 0,19 4 0,0-1 0,0 0 0,0-1 0,1 0 0,-14-9 0,-19-11 0,-12-5 0,1-2 0,-90-72 0,136 98 0,-13-9 0,10 8 0,1 1 0,0-1 0,1 0 0,0-1 0,0 0 0,0-1 0,1 1 0,1-1 0,-11-18 0,12 16-195,1 0 0,0 0 0,1 0 0,0-1 0,1 1 0,-2-19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5:49.81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5:50.42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24575,'261'9'0,"-200"-2"0,0 2 0,74 20 0,126 41 0,-231-58 0,47 23 0,-1 1 0,-53-25-1365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5:53.79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630 1 24575,'0'5'0,"-1"-1"0,0 1 0,0-1 0,0 1 0,-1-1 0,1 1 0,-1-1 0,0 1 0,0-1 0,-1 0 0,1 0 0,-1 0 0,0-1 0,0 1 0,0-1 0,0 1 0,-1-1 0,1 0 0,-1 0 0,0 0 0,0-1 0,0 0 0,-7 3 0,-1 1 0,0 0 0,-1-2 0,0 1 0,1-2 0,-2 0 0,1 0 0,-15 0 0,-167-4 0,130-3 0,-81 8 0,144-5 0,0 1 0,1 0 0,-1 1 0,0-1 0,0 0 0,0 1 0,0-1 0,1 1 0,-1-1 0,0 1 0,1 0 0,-1 0 0,0-1 0,1 1 0,-1 0 0,1 1 0,-1-1 0,1 0 0,0 0 0,0 1 0,-1-1 0,1 1 0,-1 1 0,2-1 0,-1 0 0,1-1 0,1 1 0,-1 0 0,0-1 0,0 1 0,1 0 0,-1-1 0,0 1 0,1 0 0,0-1 0,-1 1 0,1-1 0,0 1 0,0-1 0,0 0 0,0 1 0,0-1 0,0 0 0,0 0 0,0 0 0,1 1 0,-1-1 0,0 0 0,1-1 0,1 2 0,27 18 0,1-2 0,1-2 0,0-1 0,35 12 0,16 7 0,-30-10 0,-11-3 0,1-3 0,0-1 0,47 10 0,-88-26 0,0-1 0,0 1 0,0-1 0,1 1 0,-1-1 0,0 0 0,1 0 0,-1 0 0,0-1 0,0 1 0,1 0 0,-1-1 0,0 0 0,0 1 0,0-1 0,0 0 0,0 0 0,0 0 0,0 0 0,0-1 0,0 1 0,3-3 0,-3 1 0,0 0 0,0 0 0,0 0 0,0 0 0,-1-1 0,1 1 0,-1 0 0,0-1 0,0 1 0,0-1 0,-1 1 0,1-1 0,-1-5 0,0 1 0,0-1 0,0 1 0,-1 0 0,0-1 0,-1 1 0,0 0 0,0 0 0,-1 0 0,0 0 0,0 0 0,-1 1 0,-5-10 0,0 8-124,-1 1 0,0 0 0,-1 0 0,1 1 0,-1 0 0,0 1-1,-1 0 1,0 1 0,0 0 0,-15-3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4:57.6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6093 0 24575,'0'10'0,"-2"0"0,1 0 0,-1-1 0,-7 19 0,-4 28 0,8-5 0,3-19 0,-8 41 0,3-33 0,-2 50 0,4-34 0,5-52 0,-1 0 0,0-1 0,0 1 0,-1-1 0,1 1 0,-1-1 0,0 0 0,1 0 0,-1 1 0,-1-1 0,1 0 0,0-1 0,-1 1 0,0 0 0,1-1 0,-1 1 0,0-1 0,0 0 0,-1 0 0,1 0 0,0-1 0,-1 1 0,1-1 0,0 0 0,-5 1 0,-11 4 0,0-1 0,0-2 0,-29 3 0,43-5 0,-31 2 0,1 2 0,0 1 0,1 2 0,-37 13 0,49-15 0,1 0 0,-1-2 0,0-1 0,-1-1 0,1 0 0,-40-4 0,-37 4 0,21 12 0,58-9 0,-1-1 0,-22 1 0,-413-2 0,236-5 0,-306 2 0,506-2 0,1 0 0,0-1 0,-1-1 0,1-1 0,-27-11 0,17 6 0,-35-7 0,27 10 0,-85-16 0,-167-11 0,-34 28 0,-58-3 0,-378-36-1173,4-28-163,274 1 1200,-29-3 163,419 67-956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5:00.89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4029 127 24575,'-25'-1'0,"0"-2"0,-42-9 0,38 6 0,-41-3 0,35 7 0,-93-10 0,23 0 0,1 4 0,-147 8 0,101 2 0,133-2 0,-52 1 0,-1-3 0,-129-21 0,108 7 0,-174-8 0,-97 24 0,153 3 0,-1549-3-1365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5:35.14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4434 33 24575,'-2152'0'0,"2109"-2"0,-63-11 0,-23-2 0,-481 12 0,315 6 0,-803-3-1365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4:36.46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4244 46 24483,'-4244'0'0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4:42.32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4054 158 24575,'-97'1'0,"-112"-3"0,154-4 0,-74-19 0,84 15 0,0 1 0,-89-5 0,5 17 0,-113-5 0,114-25 0,31 12 0,56 7 0,-53-2 0,-411 7 0,255 6 0,199-6 0,-62-10 0,-24-2 0,-392 13 0,273 4 0,-270-2 0,493 2 0,1 1 0,-54 13 0,52-9 0,31-6-65,0-1 0,0 1 0,0 0 0,0 0 0,0 0 0,0 1 0,0-1 0,0 0 0,0 1 0,1 0 0,-1 0 0,0 0 0,1 0 0,0 0 0,-1 0 0,1 1 0,0-1 0,0 1 0,0 0 0,-1 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4:46.0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24575,'17'1'0,"-1"0"0,1 2 0,29 7 0,-5 0 0,703 184 0,-714-185 0,0-2 0,1-1 0,-1-2 0,35 2 0,128-7 0,-76-2 0,-117 3 0,125 0 0,151 19 0,-154-8 0,204-8 0,-164-5 0,302 2 0,-445-1 0,0-1 0,0-1 0,23-6 0,-20 4 0,44-5 0,72 9 0,-94 3 0,0-2 0,0-2 0,58-10 0,144-26 0,-194 30 0,-27 5 0,41-11 0,-7-1 0,-40 11 0,0-1 0,-1 0 0,34-15 0,-41 14-341,1 1 0,-1 0-1,22-4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4:47.76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3346 94 24575,'-59'-3'0,"0"-3"0,-59-13 0,-13-2 0,23 7 0,1 0 0,-152-2 0,-1216 19 0,784-5 0,672 3 0,-1 1 0,1 1 0,-23 6 0,20-4 0,-42 5 0,-88-9-1365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4:26.94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4266 196 24575,'6'1'0,"1"0"0,-1 0 0,1 1 0,-1-1 0,0 1 0,1 1 0,-1-1 0,0 1 0,0 0 0,-1 1 0,1-1 0,5 6 0,1 0 0,0 1 0,-1 1 0,0 0 0,10 15 0,-17-20 0,0 0 0,-1 0 0,0 0 0,0 1 0,-1-1 0,1 1 0,-1 0 0,-1 0 0,1 0 0,-1 0 0,-1 0 0,1 0 0,-1 0 0,-1 0 0,-1 11 0,-1 1 0,0 0 0,-2 0 0,-1-1 0,-11 29 0,13-41 0,1 0 0,0 0 0,-1-1 0,0 1 0,-1-1 0,1 0 0,-1 0 0,0 0 0,0-1 0,0 1 0,-1-1 0,0 0 0,0-1 0,0 0 0,0 0 0,0 0 0,0 0 0,-1-1 0,0 0 0,1-1 0,-8 2 0,-17 1 0,1-2 0,0 0 0,-46-4 0,34 0 0,-102 3 0,-83-4 0,205-1 0,1 0 0,-1-1 0,-26-10 0,23 6 0,-41-7 0,8 9 0,-1 3 0,-95 6 0,-47-2 0,107-14 0,61 8 0,-39-3 0,-78-7 0,-36-1 0,-1020 19 0,1170-1 0,-65 13 0,-15 1 0,-21-15 0,-32 1 0,73 14 0,63-9 0,-54 4 0,63-9 0,0 1 0,0 1 0,0 1 0,0 1 0,-29 10 0,25-6 0,1-2 0,-1-2 0,0 0 0,-32 0 0,-110-5 0,296 14 0,46 5 0,-139-17 0,50 11 0,22 1 0,-72-11 0,38 9 0,-38-5 0,44 2 0,77-10 0,36 3 0,-94 12 0,17 1 0,317-12 0,-222-5 0,-167 2 0,0 1 0,0 3 0,0 1 0,57 14 0,-53-8 0,1-2 0,0-2 0,54 1 0,144-8 0,-101-3 0,-115 3 0,70 0 0,167 20 0,-231-14 0,0-2 0,0-1 0,63-3 0,-93-1 0,-1 1 0,1-1 0,0 0 0,-1-1 0,1 1 0,0-1 0,-1 1 0,0-1 0,1 0 0,-1 0 0,0-1 0,0 1 0,0-1 0,0 0 0,4-5 0,3-5 0,-1 0 0,13-24 0,10-13 0,-32 49 0,27-32 0,-2 0 0,25-43 0,-40 58 0,26-29 0,-27 35 0,0 1 0,0-2 0,-1 1 0,12-26 0,-14 22 0,1-1 0,1 2 0,0-1 0,2 1 0,18-24 0,-19 25 0,0-1 0,0 1 0,-1-1 0,-1-1 0,-1 0 0,8-27 0,-9 27 0,-1 1 0,2-1 0,0 2 0,1-1 0,1 1 0,0 0 0,17-22 0,-25 35 0,1-1 0,0 1 0,0 0 0,0 0 0,0 0 0,0 0 0,0 0 0,0 0 0,1 0 0,-1 1 0,0-1 0,0 0 0,1 1 0,-1-1 0,0 1 0,1-1 0,-1 1 0,1 0 0,-1-1 0,1 1 0,-1 0 0,0 0 0,1 0 0,2 0 0,-3 1 0,1 0 0,0 0 0,0 0 0,-1 0 0,1 0 0,-1 1 0,1-1 0,-1 0 0,0 1 0,1-1 0,-1 1 0,0-1 0,0 1 0,0 0 0,2 3 0,1 6 0,1 0 0,-1 1 0,-1-1 0,4 24 0,-5-21 0,1-1 0,1 1 0,0-1 0,1 1 0,0-1 0,14 23 0,-17-33 0,-1 0 0,1 0 0,-1 0 0,0 0 0,0 0 0,0 0 0,0 0 0,-1 0 0,1 6 0,-1-9 0,0 1 0,0-1 0,0 1 0,0 0 0,0-1 0,0 1 0,-1-1 0,1 1 0,0-1 0,0 1 0,-1-1 0,1 1 0,0-1 0,0 1 0,-1-1 0,1 1 0,-1-1 0,1 1 0,0-1 0,-1 1 0,1-1 0,-1 1 0,-1-1 0,1 0 0,0 1 0,0-1 0,-1 0 0,1 1 0,0-1 0,-1 0 0,1 0 0,0 0 0,0 0 0,-1-1 0,1 1 0,0 0 0,-2-1 0,-24-7 0,-35-16 0,-9-2 0,26 12 0,-22-5 0,0-3 0,-82-40 0,138 56 0,-6-3 0,1 1 0,-2 0 0,1 1 0,-36-9 0,39 13 0,-33-7 0,-1 2 0,-82-3 0,-892 13 0,1008-2 0,1 2 0,0 0 0,0 0 0,0 1 0,0 1 0,0 0 0,-17 9 0,-17 5 0,20-12 0,1-1 0,-1-1 0,0-1 0,0-2 0,0 0 0,-36-5 0,-9 1 0,-765 3 0,819 1 0,0 1 0,-1 1 0,2 1 0,-1 0 0,-31 13 0,27-9 0,-1-1 0,-41 8 0,36-11 0,0 1 0,0 1 0,0 2 0,1 0 0,0 2 0,1 2 0,-42 23 0,22-11 0,29-16 0,1 0 0,-21 15 0,22-14 0,0-1 0,-1 0 0,0-1 0,-1-1 0,1-1 0,-1 0 0,-20 3 0,26-6 0,-5 2 0,-6 1 0,45-3 0,1715-3 0,-1419-15 0,7 0 0,788 17-1365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3:47.78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33 0 24541,'-33'115'0,"637"56"0,-571-286 0,-637-56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3:58.96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1856 157 24575,'2'7'0,"-1"1"0,1 0 0,0-1 0,0 1 0,1-1 0,0 0 0,0 0 0,1 0 0,0 0 0,8 10 0,11 22 0,-16-24 0,-1 0 0,-1 0 0,-1 0 0,0 1 0,-1-1 0,1 23 0,-2 97 0,-3-93 0,-1-24 0,-1 1 0,-1-1 0,-1 0 0,0-1 0,-1 1 0,-1-1 0,-14 25 0,-2 9 0,18-39 0,-1-1 0,0 0 0,-1 1 0,0-2 0,-1 1 0,0-1 0,0 0 0,-1-1 0,0 0 0,-20 14 0,25-20 0,-1 0 0,0 0 0,1-1 0,-1 1 0,0-1 0,0 0 0,-1-1 0,1 1 0,0-1 0,0 0 0,-1 0 0,1-1 0,0 0 0,-1 0 0,1 0 0,-1 0 0,1-1 0,0 0 0,-1 0 0,1 0 0,0-1 0,0 0 0,0 0 0,0 0 0,0-1 0,0 1 0,1-1 0,-5-4 0,0 0 0,1-1 0,0 0 0,1-1 0,0 1 0,0-1 0,1-1 0,0 1 0,1-1 0,0 0 0,0-1 0,1 1 0,0-1 0,-2-13 0,-1-6 0,2 1 0,1-1 0,0-52 0,4 72 0,1 1 0,0 0 0,0 0 0,1 0 0,0 0 0,1 0 0,0 0 0,8-14 0,2-2 0,27-35 0,-30 47 0,0 0 0,-1 0 0,-1-1 0,0-1 0,-1 1 0,0-1 0,-1 0 0,7-31 0,-11 34 0,-1 0 0,0 0 0,-1 0 0,0 0 0,-1 0 0,0 0 0,-4-18 0,2 23 0,1 1 0,-1-1 0,1 1 0,-2-1 0,1 1 0,-1 0 0,0 0 0,0 1 0,-1-1 0,1 1 0,-1 0 0,0 0 0,-1 1 0,-5-5 0,-4-1 0,-1 1 0,0 1 0,0 0 0,0 1 0,-1 1 0,0 0 0,0 1 0,-1 1 0,-19-2 0,-20 1 0,-85 3 0,130 2 0,6 0 0,0 0 0,0 0 0,0 1 0,1-1 0,-1 2 0,0-1 0,1 1 0,-11 3 0,14-3 0,-1-1 0,1 1 0,0 0 0,0 0 0,-1 0 0,1 0 0,0 0 0,1 0 0,-1 1 0,0-1 0,1 1 0,-1-1 0,1 1 0,0-1 0,0 1 0,0 0 0,0 0 0,0 0 0,0 4 0,-3 24 0,2-1 0,2 1 0,4 48 0,0 0 0,-5-18 0,0-36 0,0 0 0,2 0 0,1-1 0,1 1 0,7 26 0,29 96 0,-34-120 0,0-1 0,-2 1 0,-2 0 0,0 0 0,-5 43 0,4-66 0,-1 1 0,0-1 0,0 0 0,0 0 0,-1 1 0,1-1 0,-1 0 0,0 0 0,0-1 0,-1 1 0,1 0 0,-1-1 0,1 1 0,-1-1 0,0 0 0,-1 0 0,1 0 0,-1 0 0,1-1 0,-1 1 0,0-1 0,1 0 0,-1 0 0,0 0 0,-1-1 0,1 1 0,0-1 0,-6 1 0,-12 2 0,1-1 0,-1-1 0,0-1 0,-31-3 0,34 2 0,3 0 0,1-1 0,0-1 0,0 0 0,0 0 0,-25-9 0,36 9 0,-1 1 0,1-2 0,0 1 0,-1 0 0,1-1 0,0 0 0,1 0 0,-1 0 0,0 0 0,1 0 0,0-1 0,0 0 0,0 1 0,0-1 0,1 0 0,-1-1 0,1 1 0,0 0 0,0-1 0,0 1 0,1-1 0,-1-5 0,-3-23 0,2-1 0,2 1 0,4-61 0,0 12 0,-1-17 0,-5-143 0,3 235 0,0 0 0,-1 1 0,0-1 0,-1 0 0,1 1 0,-1-1 0,-1 1 0,1-1 0,-1 1 0,0 0 0,-1 0 0,1 0 0,-1 1 0,0-1 0,-1 1 0,1 0 0,-1 0 0,0 0 0,0 1 0,-1 0 0,1 0 0,-1 0 0,0 1 0,0-1 0,0 1 0,0 1 0,-1-1 0,1 1 0,-1 1 0,1-1 0,-1 1 0,0 0 0,-9 0 0,-1-1 0,-1 1 0,0 1 0,1 0 0,-1 2 0,1 0 0,-34 8 0,46-8 0,-1 0 0,1 0 0,0 1 0,0-1 0,0 1 0,0 0 0,1 0 0,-1 1 0,1-1 0,0 1 0,0 0 0,0 0 0,0 1 0,1-1 0,0 1 0,0 0 0,0-1 0,0 1 0,1 1 0,0-1 0,0 0 0,0 0 0,0 1 0,1-1 0,-1 9 0,-1 28 0,1-1 0,2 1 0,7 51 0,-6-86 0,1-1 0,0 1 0,0-1 0,1 0 0,-1 0 0,1 0 0,1 0 0,7 11 0,-7-11 0,0 0 0,0 1 0,0 0 0,-1 0 0,0 0 0,0 0 0,1 8 0,1 23 0,-2 1 0,-1 0 0,-2-1 0,-7 51 0,7-87 0,0 0 0,0 1 0,0-1 0,0 0 0,0 0 0,-1 1 0,0-1 0,1 0 0,-1 0 0,0 0 0,0 0 0,0 0 0,0 0 0,0 0 0,-1 0 0,1 0 0,0 0 0,-1-1 0,0 1 0,1-1 0,-1 1 0,0-1 0,0 1 0,0-1 0,0 0 0,0 0 0,0 0 0,0 0 0,0 0 0,0-1 0,0 1 0,-1 0 0,-2-1 0,0 0 0,0 0 0,0-1 0,0 0 0,0 0 0,1 0 0,-1-1 0,1 1 0,-1-1 0,1 0 0,-1 0 0,1-1 0,0 0 0,0 1 0,-7-7 0,3 1 0,0 0 0,0-1 0,0 1 0,1-2 0,0 1 0,1-1 0,0 0 0,1 0 0,0-1 0,-7-21 0,6 12 0,2-1 0,1 1 0,0-1 0,2 0 0,0-25 0,4-39 0,-4-109 0,0 187 0,-1 1 0,0-1 0,0 1 0,0 0 0,-1 0 0,0 0 0,0 0 0,0 0 0,-1 1 0,0-1 0,0 1 0,-1 0 0,1 0 0,-10-7 0,6 5 0,-1 0 0,0 1 0,0 0 0,-1 0 0,1 1 0,-1 0 0,-1 1 0,-10-4 0,-9 2-1365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4:00.97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453 0 24575,'-6'0'0,"-6"0"0,-7 0 0,-6 0 0,-3 0 0,-2 6 0,-2 0 0,0 1 0,-1-2 0,1-1 0,-5-1 0,-1-2 0,-6-1 0,1 0 0,1 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4:11.49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1804 0 24575,'0'374'0,"1"-351"0,2 1 0,0-1 0,2 1 0,13 39 0,-9-34 0,-1 0 0,4 37 0,4 16 0,-10-57 0,-2 0 0,3 26 0,-7-43 0,1 0 0,0 1 0,0-1 0,1 0 0,3 10 0,-4-17 0,-1 1 0,1-1 0,0 1 0,-1-1 0,1 1 0,0-1 0,0 1 0,0-1 0,0 0 0,0 1 0,0-1 0,0 0 0,0 0 0,0 0 0,1 0 0,-1 0 0,1 0 0,-1 0 0,0-1 0,1 1 0,-1 0 0,1-1 0,0 1 0,-1-1 0,1 1 0,-1-1 0,1 0 0,0 0 0,-1 0 0,1 0 0,0 0 0,-1 0 0,4-1 0,-4 1 0,0 0 0,1-1 0,-1 0 0,0 1 0,1-1 0,-1 0 0,0 1 0,0-1 0,0 0 0,0 0 0,0 0 0,0 0 0,0 0 0,0 0 0,0 0 0,0-1 0,-1 1 0,1 0 0,0 0 0,-1-1 0,1 1 0,-1 0 0,1-1 0,-1 1 0,0 0 0,0-1 0,1 1 0,-1-1 0,0 1 0,0-1 0,0 1 0,-1 0 0,1-1 0,0 1 0,-1-3 0,-1-6 0,-1 0 0,0 0 0,-7-15 0,10 22 0,-15-26 0,0 1 0,-2 0 0,-1 2 0,-42-50 0,37 53 0,-1 1 0,-1 1 0,-1 1 0,-1 1 0,-34-18 0,33 22 0,1-2 0,1-1 0,0-1 0,2-1 0,-38-40 0,37 27 0,1 0 0,2-1 0,-26-57 0,43 82 0,1-1 0,0 0 0,1 0 0,0-1 0,0 1 0,0-12 0,3 22 0,0 0 0,0-1 0,0 1 0,-1 0 0,1 0 0,0-1 0,0 1 0,0 0 0,0-1 0,1 1 0,-1 0 0,0 0 0,0-1 0,0 1 0,0 0 0,0-1 0,0 1 0,0 0 0,0 0 0,1-1 0,-1 1 0,0 0 0,0 0 0,0-1 0,1 1 0,-1 0 0,0 0 0,0 0 0,1 0 0,-1-1 0,0 1 0,0 0 0,1 0 0,-1 0 0,0 0 0,0 0 0,1 0 0,-1 0 0,0-1 0,1 1 0,-1 0 0,0 0 0,0 0 0,1 0 0,-1 0 0,0 1 0,1-1 0,-1 0 0,0 0 0,1 0 0,-1 0 0,0 0 0,0 0 0,1 0 0,-1 0 0,0 1 0,0-1 0,1 0 0,-1 0 0,17 11 0,16 23 0,45 58 0,9 9 0,-69-80 0,22 31 0,10 12 0,-45-57 0,-1-1 0,1 1 0,-1-1 0,-1 1 0,1 0 0,-1 1 0,0-1 0,-1 0 0,1 1 0,-2 0 0,1-1 0,-1 1 0,0 0 0,-1 15 0,0-18 0,0 0 0,0 0 0,-1 0 0,1-1 0,-1 1 0,-1 0 0,1 0 0,-1-1 0,0 1 0,0-1 0,0 0 0,0 1 0,-1-1 0,0 0 0,1 0 0,-2-1 0,1 1 0,0 0 0,-1-1 0,1 0 0,-1 0 0,0 0 0,0 0 0,-8 3 0,0-2 0,0 0 0,-1-1 0,1 0 0,0-1 0,-1 0 0,-15-1 0,-82-5 0,39 0 0,30 5 0,29 1 0,0-2 0,-1 0 0,1 0 0,0-1 0,0-1 0,-22-5 0,31 6 0,0-1 0,0 0 0,1 1 0,-1-1 0,1 0 0,-1-1 0,1 1 0,0 0 0,0-1 0,0 1 0,0-1 0,0 0 0,1 1 0,-1-1 0,1 0 0,0 0 0,0 0 0,0 0 0,0 0 0,0 0 0,0-1 0,1-5 0,-2-9 0,1 0 0,4-35 0,-2 30 0,3-38 0,-1 22 0,-2 0 0,-1 0 0,-9-66 0,8 100 0,1 0 0,-1 1 0,0-1 0,-1 1 0,1-1 0,-1 1 0,0 0 0,0 0 0,0 0 0,-1 0 0,1 0 0,-1 0 0,0 1 0,0-1 0,0 1 0,-1-1 0,1 1 0,-1 1 0,0-1 0,0 0 0,0 1 0,0 0 0,0 0 0,0 0 0,-1 0 0,1 1 0,-6-2 0,-25-6 0,-1 1 0,1 2 0,-1 2 0,0 1 0,0 2 0,-62 5 0,83-1 0,1 1 0,-1 0 0,1 1 0,1 0 0,-1 1 0,-22 14 0,3-2 0,16-12 0,-1 0 0,0-1 0,0-1 0,0 0 0,0-1 0,-1-1 0,1-1 0,-30-2 0,19 1 0,0 1 0,-35 6 0,54-5 0,1 0 0,-1 1 0,1 0 0,0 0 0,0 1 0,0 0 0,0 1 0,1 0 0,0 0 0,-12 11 0,-13 12 0,12-11 0,1 1 0,-25 29 0,39-40 0,1 0 0,0 1 0,0-1 0,1 1 0,0 0 0,0 0 0,1 0 0,0 1 0,1-1 0,0 1 0,-2 12 0,1 9 0,1 0 0,3 49 0,0-69 0,0 0 0,1 0 0,0 0 0,1 0 0,-1 0 0,2-1 0,0 1 0,0-1 0,0 0 0,1 0 0,10 13 0,6 1 0,0-1 0,2 0 0,0-2 0,1-1 0,2 0 0,0-2 0,0-1 0,29 12 0,-3 0 0,-42-21 0,-1-2 0,1 1 0,0-1 0,0-1 0,0 0 0,1 0 0,-1-1 0,13 2 0,52 0 0,118-6 0,-65-2 0,-100 4 0,0-2 0,1-1 0,-1 0 0,51-14 0,-72 15 0,-1-1 0,0-1 0,1 1 0,-1-1 0,-1 0 0,1 0 0,0-1 0,-1 0 0,1 0 0,-1 0 0,0 0 0,-1-1 0,1 0 0,-1 0 0,0 0 0,0-1 0,-1 1 0,1-1 0,-1 0 0,0 0 0,-1 0 0,0 0 0,0-1 0,0 1 0,0 0 0,0-13 0,2-20 0,-3 0 0,-3-51 0,1 72 0,-1 1 0,-1 1 0,-1-1 0,0 0 0,-1 1 0,-1 0 0,-13-28 0,12 36 0,1 0 0,-1 0 0,0 0 0,-1 1 0,0 0 0,0 1 0,-15-10 0,-4-4 0,18 14 0,-1-1 0,1 2 0,-1 0 0,-1 0 0,1 0 0,-1 1 0,0 1 0,0 0 0,0 1 0,-21-3 0,-9 3 0,-70 4 0,43 1 0,26-4 0,30 0 0,0 0 0,-1 1 0,1 1 0,0 0 0,-1 0 0,-21 7 0,31-7 0,1 0 0,0 0 0,-1 0 0,1 1 0,0-1 0,0 1 0,0-1 0,0 1 0,0 0 0,1 0 0,-1 0 0,0 0 0,1 0 0,0 0 0,-1 0 0,1 1 0,0-1 0,0 0 0,0 1 0,0-1 0,1 1 0,-1-1 0,1 1 0,-1-1 0,1 1 0,0-1 0,0 1 0,0 0 0,0-1 0,1 1 0,0 3 0,0 0 0,0-1 0,1 1 0,0 0 0,0-1 0,0 1 0,1-1 0,0 0 0,0 0 0,0 0 0,0 0 0,1 0 0,7 7 0,9 3 0,0-1 0,2 0 0,41 19 0,2 1 0,-55-27 0,1-1 0,0 0 0,0-1 0,0 0 0,1-1 0,0 0 0,-1-1 0,2 0 0,-1-1 0,18 1 0,1 0 0,42 8 0,-43-5 0,53 3 0,-35-8 0,-441-2 0,359-1 0,0-2 0,-38-8 0,-11-1 0,-1 0 0,-66-5 0,127 17-195,1-2 0,0-1 0,0 0 0,0-1 0,1-2 0,-28-11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37:16.95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143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customXml" Target="../ink/ink5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9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customXml" Target="../ink/ink15.xml"/><Relationship Id="rId3" Type="http://schemas.openxmlformats.org/officeDocument/2006/relationships/image" Target="../media/image18.png"/><Relationship Id="rId7" Type="http://schemas.openxmlformats.org/officeDocument/2006/relationships/customXml" Target="../ink/ink12.xml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customXml" Target="../ink/ink14.xml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customXml" Target="../ink/ink13.xml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6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customXml" Target="../ink/ink18.xml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customXml" Target="../ink/ink22.xml"/><Relationship Id="rId3" Type="http://schemas.openxmlformats.org/officeDocument/2006/relationships/image" Target="../media/image32.png"/><Relationship Id="rId7" Type="http://schemas.openxmlformats.org/officeDocument/2006/relationships/customXml" Target="../ink/ink19.xml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customXml" Target="../ink/ink21.xml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customXml" Target="../ink/ink20.xml"/><Relationship Id="rId1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customXml" Target="../ink/ink23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customXml" Target="../ink/ink24.xml"/><Relationship Id="rId7" Type="http://schemas.openxmlformats.org/officeDocument/2006/relationships/customXml" Target="../ink/ink26.xml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png"/><Relationship Id="rId11" Type="http://schemas.openxmlformats.org/officeDocument/2006/relationships/customXml" Target="../ink/ink28.xml"/><Relationship Id="rId5" Type="http://schemas.openxmlformats.org/officeDocument/2006/relationships/customXml" Target="../ink/ink25.xml"/><Relationship Id="rId10" Type="http://schemas.openxmlformats.org/officeDocument/2006/relationships/image" Target="../media/image46.png"/><Relationship Id="rId4" Type="http://schemas.openxmlformats.org/officeDocument/2006/relationships/image" Target="../media/image43.png"/><Relationship Id="rId9" Type="http://schemas.openxmlformats.org/officeDocument/2006/relationships/customXml" Target="../ink/ink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9982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Manufacturing Defect Analysis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5386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January – June (2024)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567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– Gavali Priti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052EA30-B42E-C368-2117-205B8AB44071}"/>
                  </a:ext>
                </a:extLst>
              </p14:cNvPr>
              <p14:cNvContentPartPr/>
              <p14:nvPr/>
            </p14:nvContentPartPr>
            <p14:xfrm>
              <a:off x="13057718" y="7827603"/>
              <a:ext cx="1450080" cy="123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052EA30-B42E-C368-2117-205B8AB440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94718" y="7764603"/>
                <a:ext cx="157572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07DD8-6A1C-A5B3-8AB8-0EBEE6CD4EA4}"/>
              </a:ext>
            </a:extLst>
          </p:cNvPr>
          <p:cNvGrpSpPr/>
          <p:nvPr/>
        </p:nvGrpSpPr>
        <p:grpSpPr>
          <a:xfrm>
            <a:off x="12644438" y="7793763"/>
            <a:ext cx="1896840" cy="266400"/>
            <a:chOff x="12644438" y="7793763"/>
            <a:chExt cx="189684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DF0BC6-0706-2A04-84E1-7746F0640BC3}"/>
                    </a:ext>
                  </a:extLst>
                </p14:cNvPr>
                <p14:cNvContentPartPr/>
                <p14:nvPr/>
              </p14:nvContentPartPr>
              <p14:xfrm>
                <a:off x="12677198" y="7793763"/>
                <a:ext cx="1819440" cy="135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DF0BC6-0706-2A04-84E1-7746F0640BC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14558" y="7731123"/>
                  <a:ext cx="19450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B1E3AF8-44C6-9D1A-CA4D-92F44CE66B25}"/>
                    </a:ext>
                  </a:extLst>
                </p14:cNvPr>
                <p14:cNvContentPartPr/>
                <p14:nvPr/>
              </p14:nvContentPartPr>
              <p14:xfrm>
                <a:off x="12689438" y="8006523"/>
                <a:ext cx="1851840" cy="53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B1E3AF8-44C6-9D1A-CA4D-92F44CE66B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626798" y="7943523"/>
                  <a:ext cx="19774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16B82D-7A51-D4C6-A465-C0B7AB4E148D}"/>
                    </a:ext>
                  </a:extLst>
                </p14:cNvPr>
                <p14:cNvContentPartPr/>
                <p14:nvPr/>
              </p14:nvContentPartPr>
              <p14:xfrm>
                <a:off x="12644438" y="7939563"/>
                <a:ext cx="1294920" cy="3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16B82D-7A51-D4C6-A465-C0B7AB4E148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581438" y="7876923"/>
                  <a:ext cx="1420560" cy="159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954" y="607338"/>
            <a:ext cx="7831217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Addressing Recurring Manufacturing Defects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772954" y="1943576"/>
            <a:ext cx="3435191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Challenge: Recurring Defects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72954" y="2316956"/>
            <a:ext cx="4351853" cy="78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lines are experiencing recurring defects across multiple product lines.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Defects vary in type (structural, functional, cosmetic) and severity (minor, moderate, critical).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2954" y="3189684"/>
            <a:ext cx="2260997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Impact of Defects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2954" y="3563064"/>
            <a:ext cx="4351853" cy="78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repair/rework costs and significant production downtime.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of severe customer dissatisfaction due to compromised quality.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993" y="1237059"/>
            <a:ext cx="5448419" cy="33268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2709" y="4745712"/>
            <a:ext cx="838223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2954" y="5151120"/>
            <a:ext cx="3417094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Observations (Jan–Jun 2024)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72954" y="5569863"/>
            <a:ext cx="6496764" cy="982385"/>
          </a:xfrm>
          <a:prstGeom prst="roundRect">
            <a:avLst>
              <a:gd name="adj" fmla="val 7446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14" y="5569863"/>
            <a:ext cx="60960" cy="9823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7384" y="5728573"/>
            <a:ext cx="1923574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Structural Dominance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77384" y="6018490"/>
            <a:ext cx="613362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defects are the primary concern, indicating durability and design issues.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60563" y="5569863"/>
            <a:ext cx="6496883" cy="982385"/>
          </a:xfrm>
          <a:prstGeom prst="roundRect">
            <a:avLst>
              <a:gd name="adj" fmla="val 7446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323" y="5569863"/>
            <a:ext cx="60960" cy="9823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64993" y="5728573"/>
            <a:ext cx="1884164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Weekend Weakness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564993" y="6018490"/>
            <a:ext cx="6133743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Friday–Sunday shifts consistently show higher defect counts, pointing to workforce or process challenges.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72954" y="6643092"/>
            <a:ext cx="6496764" cy="982385"/>
          </a:xfrm>
          <a:prstGeom prst="roundRect">
            <a:avLst>
              <a:gd name="adj" fmla="val 7446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14" y="6643092"/>
            <a:ext cx="60960" cy="98238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77384" y="6801803"/>
            <a:ext cx="1884164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High-Risk Machines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977384" y="7091720"/>
            <a:ext cx="613362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few specific machines are responsible for most critical defects, suggesting maintenance or training gaps.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360563" y="6643092"/>
            <a:ext cx="6496883" cy="982385"/>
          </a:xfrm>
          <a:prstGeom prst="roundRect">
            <a:avLst>
              <a:gd name="adj" fmla="val 7446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323" y="6643092"/>
            <a:ext cx="60960" cy="98238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64993" y="6801803"/>
            <a:ext cx="1884164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Systematic Patterns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564993" y="7091720"/>
            <a:ext cx="6133743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and weekly spikes confirm that defects are systematic, not random occurrences.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66BC110-9EEF-11E1-C823-A79ED83B00F9}"/>
                  </a:ext>
                </a:extLst>
              </p14:cNvPr>
              <p14:cNvContentPartPr/>
              <p14:nvPr/>
            </p14:nvContentPartPr>
            <p14:xfrm>
              <a:off x="12845318" y="7893843"/>
              <a:ext cx="1629360" cy="57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66BC110-9EEF-11E1-C823-A79ED83B00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82678" y="7831203"/>
                <a:ext cx="175500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8D210EE-9114-E75F-9033-F13229717949}"/>
                  </a:ext>
                </a:extLst>
              </p14:cNvPr>
              <p14:cNvContentPartPr/>
              <p14:nvPr/>
            </p14:nvContentPartPr>
            <p14:xfrm>
              <a:off x="12947918" y="7827243"/>
              <a:ext cx="1526760" cy="47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8D210EE-9114-E75F-9033-F1322971794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85278" y="7764603"/>
                <a:ext cx="16524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529FA10-39E5-7570-02F5-AD09B2184EED}"/>
                  </a:ext>
                </a:extLst>
              </p14:cNvPr>
              <p14:cNvContentPartPr/>
              <p14:nvPr/>
            </p14:nvContentPartPr>
            <p14:xfrm>
              <a:off x="12870518" y="8028483"/>
              <a:ext cx="157032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529FA10-39E5-7570-02F5-AD09B2184EE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07878" y="7965843"/>
                <a:ext cx="169596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7363"/>
            <a:ext cx="7249597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Overview: Foundation for Insight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90" y="1434823"/>
            <a:ext cx="6795490" cy="27009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614380"/>
            <a:ext cx="714565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306633" y="1530548"/>
            <a:ext cx="2322076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Source &amp; Integrity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306633" y="1916430"/>
            <a:ext cx="5537478" cy="624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dataset from </a:t>
            </a:r>
            <a:r>
              <a:rPr lang="en-US" sz="115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defect_data_cleaned.csv</a:t>
            </a: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covering Jan–Jun 2024.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 removed, date formats standardized, and missing values handled to ensure data accuracy.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306633" y="2636877"/>
            <a:ext cx="2394704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Fields for Analysis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06633" y="3022759"/>
            <a:ext cx="5537478" cy="1334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defect_type</a:t>
            </a: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Structural, Functional, Cosmetic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</a:t>
            </a: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Minor, Moderate, Critical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product_id</a:t>
            </a: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Machine identification for specific analysis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day_of_week</a:t>
            </a: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For shift and daily performance insights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defect_date</a:t>
            </a: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To track trends over time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repair_cost</a:t>
            </a: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Quantifies financial impact of each defect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3790" y="4534495"/>
            <a:ext cx="2322076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Scope and Purpose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3790" y="4968359"/>
            <a:ext cx="6473547" cy="442198"/>
          </a:xfrm>
          <a:prstGeom prst="roundRect">
            <a:avLst>
              <a:gd name="adj" fmla="val 48012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20014" y="5051227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41189" y="5506283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Extensive Records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41189" y="5805488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Thousands of defect records collected over 6 months (Q1–Q2 2024).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63063" y="4968359"/>
            <a:ext cx="6473547" cy="442198"/>
          </a:xfrm>
          <a:prstGeom prst="roundRect">
            <a:avLst>
              <a:gd name="adj" fmla="val 48012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89287" y="5051227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510462" y="5506283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Distribution Insights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10462" y="5805488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defect distribution by type, severity, product, and time.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93790" y="6243161"/>
            <a:ext cx="6473547" cy="442198"/>
          </a:xfrm>
          <a:prstGeom prst="roundRect">
            <a:avLst>
              <a:gd name="adj" fmla="val 48012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20014" y="6326029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41189" y="6781086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Pareto Analysis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41189" y="7080290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80/20 rule application to prioritize corrective actions effectively.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63063" y="6243161"/>
            <a:ext cx="6473547" cy="442198"/>
          </a:xfrm>
          <a:prstGeom prst="roundRect">
            <a:avLst>
              <a:gd name="adj" fmla="val 480126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489287" y="6326029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510462" y="6781086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Root Cause Analysis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510462" y="7080290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in-depth investigation into machine, shift, and location-specific causes.</a:t>
            </a:r>
            <a:endParaRPr lang="en-US" sz="11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7E396CF-3187-5660-BD8D-F9B04206E1FB}"/>
              </a:ext>
            </a:extLst>
          </p:cNvPr>
          <p:cNvGrpSpPr/>
          <p:nvPr/>
        </p:nvGrpSpPr>
        <p:grpSpPr>
          <a:xfrm>
            <a:off x="12858638" y="7816083"/>
            <a:ext cx="1649160" cy="302400"/>
            <a:chOff x="12858638" y="7816083"/>
            <a:chExt cx="164916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4E3A8D1-FE6C-5FA6-CF36-79D7C700CF0C}"/>
                    </a:ext>
                  </a:extLst>
                </p14:cNvPr>
                <p14:cNvContentPartPr/>
                <p14:nvPr/>
              </p14:nvContentPartPr>
              <p14:xfrm>
                <a:off x="12858638" y="7816083"/>
                <a:ext cx="1504440" cy="10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4E3A8D1-FE6C-5FA6-CF36-79D7C700CF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95998" y="7753083"/>
                  <a:ext cx="16300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DAC6B57-2E3B-5BEB-B5A0-4194809B04D8}"/>
                    </a:ext>
                  </a:extLst>
                </p14:cNvPr>
                <p14:cNvContentPartPr/>
                <p14:nvPr/>
              </p14:nvContentPartPr>
              <p14:xfrm>
                <a:off x="12890318" y="7950723"/>
                <a:ext cx="1617480" cy="146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DAC6B57-2E3B-5BEB-B5A0-4194809B04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27678" y="7887723"/>
                  <a:ext cx="17431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E202467-AAC2-AFE1-BD9C-3073D84D98B1}"/>
                    </a:ext>
                  </a:extLst>
                </p14:cNvPr>
                <p14:cNvContentPartPr/>
                <p14:nvPr/>
              </p14:nvContentPartPr>
              <p14:xfrm>
                <a:off x="13057358" y="7950723"/>
                <a:ext cx="1171800" cy="67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E202467-AAC2-AFE1-BD9C-3073D84D98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94718" y="7887723"/>
                  <a:ext cx="12974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FA80C9-08AB-D4B5-410C-506E3574FFD7}"/>
                    </a:ext>
                  </a:extLst>
                </p14:cNvPr>
                <p14:cNvContentPartPr/>
                <p14:nvPr/>
              </p14:nvContentPartPr>
              <p14:xfrm>
                <a:off x="13213238" y="8025603"/>
                <a:ext cx="1183320" cy="92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FA80C9-08AB-D4B5-410C-506E3574FF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50598" y="7962603"/>
                  <a:ext cx="1308960" cy="218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886" y="767596"/>
            <a:ext cx="5776317" cy="37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Defect Distribution: Unpacking the Trends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08886" y="1300163"/>
            <a:ext cx="178117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By Defect Type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8886" y="1579126"/>
            <a:ext cx="6705243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defects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account for the highest counts, pointing to inherent design or material issues.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defects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the second most prevalent, affecting product performance.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Cosmetic defects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less frequent but crucial for customer perception.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4" y="2298978"/>
            <a:ext cx="4330827" cy="22886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7497" y="1279446"/>
            <a:ext cx="178117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By Severity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97497" y="1558409"/>
            <a:ext cx="643151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Minor defects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 the majority, manageable but indicative of underlying problems.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defects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though fewer, are significant due to their severe impact on product usability or safety.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defects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constitute the smallest share.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971" y="2115503"/>
            <a:ext cx="4895385" cy="21277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886" y="4819055"/>
            <a:ext cx="178117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By Product (Machine)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08886" y="5098018"/>
            <a:ext cx="6705243" cy="29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concentrated group of </a:t>
            </a: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product IDs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responsible for the highest defect volumes.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specific machines also exhibit a disproportionately high occurrence of </a:t>
            </a: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severity defects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85" y="5656491"/>
            <a:ext cx="4330827" cy="217937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165" y="5691673"/>
            <a:ext cx="4751401" cy="22886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05493" y="4707731"/>
            <a:ext cx="17921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By Shift (Day of Week)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597497" y="5041702"/>
            <a:ext cx="6431518" cy="426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Friday–Sunday shifts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consistently register higher defect counts.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pattern suggests potential issues related to increased workload pressure or process inconsistencies at the end of the work week.</a:t>
            </a:r>
            <a:endParaRPr lang="en-US" sz="8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6AA899-2F3E-8C8F-886B-51DA77B3E720}"/>
              </a:ext>
            </a:extLst>
          </p:cNvPr>
          <p:cNvGrpSpPr/>
          <p:nvPr/>
        </p:nvGrpSpPr>
        <p:grpSpPr>
          <a:xfrm>
            <a:off x="12927038" y="7794843"/>
            <a:ext cx="1558440" cy="286200"/>
            <a:chOff x="12927038" y="7794843"/>
            <a:chExt cx="155844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BC7C2FC-E90A-98F2-7CAB-14025FFB41B5}"/>
                    </a:ext>
                  </a:extLst>
                </p14:cNvPr>
                <p14:cNvContentPartPr/>
                <p14:nvPr/>
              </p14:nvContentPartPr>
              <p14:xfrm>
                <a:off x="12927038" y="7816443"/>
                <a:ext cx="1558440" cy="235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BC7C2FC-E90A-98F2-7CAB-14025FFB41B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864398" y="7753803"/>
                  <a:ext cx="16840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FF1326-8D63-4074-3CA7-99051F62B8C9}"/>
                    </a:ext>
                  </a:extLst>
                </p14:cNvPr>
                <p14:cNvContentPartPr/>
                <p14:nvPr/>
              </p14:nvContentPartPr>
              <p14:xfrm>
                <a:off x="13280918" y="7794843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FF1326-8D63-4074-3CA7-99051F62B8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218278" y="773184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A54999-B8BD-B1C2-771F-45FBD04C2C06}"/>
                    </a:ext>
                  </a:extLst>
                </p14:cNvPr>
                <p14:cNvContentPartPr/>
                <p14:nvPr/>
              </p14:nvContentPartPr>
              <p14:xfrm>
                <a:off x="13280918" y="7794843"/>
                <a:ext cx="355320" cy="78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A54999-B8BD-B1C2-771F-45FBD04C2C0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218278" y="7731843"/>
                  <a:ext cx="480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0572EAB-CA1B-580F-991A-C2627CDBE2B9}"/>
                    </a:ext>
                  </a:extLst>
                </p14:cNvPr>
                <p14:cNvContentPartPr/>
                <p14:nvPr/>
              </p14:nvContentPartPr>
              <p14:xfrm>
                <a:off x="14202878" y="7928403"/>
                <a:ext cx="230040" cy="152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0572EAB-CA1B-580F-991A-C2627CDBE2B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139878" y="7865763"/>
                  <a:ext cx="355680" cy="278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625912"/>
            <a:ext cx="8777645" cy="439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Pareto Analysis: Focusing Efforts for Maximum Impact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03" y="1273373"/>
            <a:ext cx="6719626" cy="2989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13332" y="1983581"/>
            <a:ext cx="2449116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Defect Type Contribution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13332" y="2326600"/>
            <a:ext cx="4402931" cy="1277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defects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the single largest contributor to overall issues.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defects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 the second largest category.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Together, structural and functional defects account for approximately </a:t>
            </a:r>
            <a:r>
              <a:rPr lang="en-US" sz="10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of all reported issues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Cosmetic defects make up the remaining ~20% of the defect landscape.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21638" y="4470202"/>
            <a:ext cx="2149554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Implications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38" y="4852749"/>
            <a:ext cx="6593562" cy="5361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5583" y="5468064"/>
            <a:ext cx="1816179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Apply Pareto Principle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5583" y="5735479"/>
            <a:ext cx="6325672" cy="34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Focusing corrective actions on structural and functional defects will yield the most significant quality improvements.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852749"/>
            <a:ext cx="6593562" cy="5361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49145" y="5468064"/>
            <a:ext cx="1759148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Reduction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449145" y="5735479"/>
            <a:ext cx="6325672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Addressing these key categories effectively reduces the majority of defects with optimized effort.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21638" y="6329363"/>
            <a:ext cx="2110978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Focus Areas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721638" y="6711910"/>
            <a:ext cx="4342924" cy="891778"/>
          </a:xfrm>
          <a:prstGeom prst="roundRect">
            <a:avLst>
              <a:gd name="adj" fmla="val 63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63203" y="6853476"/>
            <a:ext cx="2132171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Durability &amp; Functionality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63203" y="7120890"/>
            <a:ext cx="4059793" cy="34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checks for structural integrity and operational performance in production processes.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143738" y="6711910"/>
            <a:ext cx="4342924" cy="891778"/>
          </a:xfrm>
          <a:prstGeom prst="roundRect">
            <a:avLst>
              <a:gd name="adj" fmla="val 63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285303" y="6853476"/>
            <a:ext cx="2035731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Root Cause Prioritization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285303" y="7120890"/>
            <a:ext cx="4059793" cy="34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resources towards identifying and resolving root causes specific to structural and functional failures.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565838" y="6711910"/>
            <a:ext cx="4342924" cy="891778"/>
          </a:xfrm>
          <a:prstGeom prst="roundRect">
            <a:avLst>
              <a:gd name="adj" fmla="val 63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707404" y="6853476"/>
            <a:ext cx="1759148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Cosmetic Phase 2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9707404" y="7120890"/>
            <a:ext cx="4059793" cy="34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cosmetic issues in a subsequent phase for continued customer satisfaction enhancements.</a:t>
            </a:r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970FFE1-AE14-3DF0-ADEC-F6A980A9F6E0}"/>
                  </a:ext>
                </a:extLst>
              </p14:cNvPr>
              <p14:cNvContentPartPr/>
              <p14:nvPr/>
            </p14:nvContentPartPr>
            <p14:xfrm>
              <a:off x="12280838" y="7850643"/>
              <a:ext cx="2193840" cy="235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970FFE1-AE14-3DF0-ADEC-F6A980A9F6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218198" y="7787643"/>
                <a:ext cx="231948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2085082-7E72-AC4A-FFF4-B488702B7DA7}"/>
                  </a:ext>
                </a:extLst>
              </p14:cNvPr>
              <p14:cNvContentPartPr/>
              <p14:nvPr/>
            </p14:nvContentPartPr>
            <p14:xfrm>
              <a:off x="12979238" y="7804923"/>
              <a:ext cx="1450800" cy="46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2085082-7E72-AC4A-FFF4-B488702B7D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16238" y="7741923"/>
                <a:ext cx="15764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2B0A88E-3B7F-BDDE-7E83-7019624CCBC5}"/>
                  </a:ext>
                </a:extLst>
              </p14:cNvPr>
              <p14:cNvContentPartPr/>
              <p14:nvPr/>
            </p14:nvContentPartPr>
            <p14:xfrm>
              <a:off x="12833438" y="7938843"/>
              <a:ext cx="1596240" cy="12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2B0A88E-3B7F-BDDE-7E83-7019624CCBC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770798" y="7875843"/>
                <a:ext cx="1721880" cy="13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702" y="639961"/>
            <a:ext cx="7876580" cy="406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 Trend Insights: Understanding Defect Rhythms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11" y="1216223"/>
            <a:ext cx="5680352" cy="23549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7702" y="3850005"/>
            <a:ext cx="3029307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Monthly &amp; Quarterly Fluctuations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67702" y="4161830"/>
            <a:ext cx="7312104" cy="330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 counts vary monthly, with a notable peak in January.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exhibits higher defect rates compared to Q2, suggesting early-year challenges in quality control.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19" y="4951141"/>
            <a:ext cx="5454318" cy="26563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702" y="7071598"/>
            <a:ext cx="7312104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8289846" y="1216223"/>
            <a:ext cx="2782967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Weekly Trends &amp; Shift Patterns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289846" y="1528048"/>
            <a:ext cx="5680353" cy="63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spikes are observed around weeks 17–20, possibly correlating with specific production cycles or campaigns.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patterns indicate systematic drivers rather than random variations in defect generation.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951" y="2241828"/>
            <a:ext cx="3903505" cy="18522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89846" y="3942993"/>
            <a:ext cx="5680353" cy="30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8289846" y="4317683"/>
            <a:ext cx="2178963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Shift-Level Performance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289846" y="4629507"/>
            <a:ext cx="5680353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Friday–Sunday shifts</a:t>
            </a: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consistently report elevated defect counts.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points to potential workforce fatigue, increased workload pressure, or changes in process adherence towards the end of the week.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1233" y="5493186"/>
            <a:ext cx="4074972" cy="23236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A538E58-2DC5-D475-B869-FEBCB96ECEE2}"/>
                  </a:ext>
                </a:extLst>
              </p14:cNvPr>
              <p14:cNvContentPartPr/>
              <p14:nvPr/>
            </p14:nvContentPartPr>
            <p14:xfrm>
              <a:off x="12946478" y="7961523"/>
              <a:ext cx="152784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A538E58-2DC5-D475-B869-FEBCB96ECE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83478" y="7835523"/>
                <a:ext cx="16534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99AA4E6-0744-801F-218D-F176846004CF}"/>
                  </a:ext>
                </a:extLst>
              </p14:cNvPr>
              <p14:cNvContentPartPr/>
              <p14:nvPr/>
            </p14:nvContentPartPr>
            <p14:xfrm>
              <a:off x="12970238" y="7804923"/>
              <a:ext cx="1459440" cy="57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99AA4E6-0744-801F-218D-F176846004C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907598" y="7742283"/>
                <a:ext cx="158508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E6E4D21F-768A-5A94-1030-C1EF933D8501}"/>
              </a:ext>
            </a:extLst>
          </p:cNvPr>
          <p:cNvGrpSpPr/>
          <p:nvPr/>
        </p:nvGrpSpPr>
        <p:grpSpPr>
          <a:xfrm>
            <a:off x="12968438" y="8051163"/>
            <a:ext cx="1472400" cy="101160"/>
            <a:chOff x="12968438" y="8051163"/>
            <a:chExt cx="147240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EBE2571-D483-D48A-6C3D-ED538BE35270}"/>
                    </a:ext>
                  </a:extLst>
                </p14:cNvPr>
                <p14:cNvContentPartPr/>
                <p14:nvPr/>
              </p14:nvContentPartPr>
              <p14:xfrm>
                <a:off x="12968438" y="8051163"/>
                <a:ext cx="1452600" cy="101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EBE2571-D483-D48A-6C3D-ED538BE352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905798" y="7988523"/>
                  <a:ext cx="1578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5A9D1BF-EF59-B963-C051-4F8A23A7746D}"/>
                    </a:ext>
                  </a:extLst>
                </p14:cNvPr>
                <p14:cNvContentPartPr/>
                <p14:nvPr/>
              </p14:nvContentPartPr>
              <p14:xfrm>
                <a:off x="13236278" y="8061954"/>
                <a:ext cx="1204560" cy="33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5A9D1BF-EF59-B963-C051-4F8A23A7746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173638" y="7999314"/>
                  <a:ext cx="1330200" cy="159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290" y="580668"/>
            <a:ext cx="7128034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Root Cause Findings: Deeper Dive into Defect Origins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38" y="1182528"/>
            <a:ext cx="5689672" cy="33114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14046" y="1590913"/>
            <a:ext cx="2322314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Systematic Nature of Defects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14046" y="1866662"/>
            <a:ext cx="4520565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Defects are not random events but follow </a:t>
            </a: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predictable, systematic patterns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issues consistently appear across different machines and timeframes.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and monthly spikes (e.g., January, weeks 17–20) further confirm these recurring trends.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514046" y="2495788"/>
            <a:ext cx="2663071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Shift Performance Discrepancies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14046" y="2771537"/>
            <a:ext cx="4520565" cy="70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Friday–Sunday shifts consistently underperform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 test results (</a:t>
            </a: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F=1.61, p-value=0.1404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show statistically significant differences in repair costs across shifts.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strongly suggests underlying process or workforce-related challenges during weekend operations.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3290" y="4979551"/>
            <a:ext cx="2453759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Machine-Level Vulnerabilities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3290" y="5255300"/>
            <a:ext cx="4520565" cy="84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limited number of </a:t>
            </a: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 IDs (machines)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responsible for a disproportionate share of defects.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problematic machines are critically linked to a higher incidence of </a:t>
            </a: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severity defects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highlights an urgent need for targeted preventive maintenance and potential operator retraining.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2555" y="4493941"/>
            <a:ext cx="4744443" cy="33114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3290" y="7058382"/>
            <a:ext cx="1764863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Statistical Validation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03290" y="7361873"/>
            <a:ext cx="13423821" cy="286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Chi-square Test (</a:t>
            </a: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chi2=3.57, p-value=0.4669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confirms a significant relationship between defect type and severity.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analysis further reveals that repair cost trends align with identified time-based defect spikes.</a:t>
            </a:r>
            <a:endParaRPr lang="en-US" sz="8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7BDB302-D5D1-8878-F437-87E2DF67A8CA}"/>
                  </a:ext>
                </a:extLst>
              </p14:cNvPr>
              <p14:cNvContentPartPr/>
              <p14:nvPr/>
            </p14:nvContentPartPr>
            <p14:xfrm>
              <a:off x="12860798" y="7813203"/>
              <a:ext cx="1600920" cy="305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7BDB302-D5D1-8878-F437-87E2DF67A8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98158" y="7750203"/>
                <a:ext cx="1726560" cy="43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5566"/>
            <a:ext cx="10602992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Actionable Recommendations for Quality Improvement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93790" y="1458873"/>
            <a:ext cx="13042821" cy="1122164"/>
          </a:xfrm>
          <a:prstGeom prst="roundRect">
            <a:avLst>
              <a:gd name="adj" fmla="val 5943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1481733"/>
            <a:ext cx="635079" cy="1076444"/>
          </a:xfrm>
          <a:prstGeom prst="roundRect">
            <a:avLst>
              <a:gd name="adj" fmla="val 6181"/>
            </a:avLst>
          </a:prstGeom>
          <a:solidFill>
            <a:srgbClr val="2F1D63"/>
          </a:solidFill>
          <a:ln/>
        </p:spPr>
      </p:sp>
      <p:sp>
        <p:nvSpPr>
          <p:cNvPr id="5" name="Text 3"/>
          <p:cNvSpPr/>
          <p:nvPr/>
        </p:nvSpPr>
        <p:spPr>
          <a:xfrm>
            <a:off x="1011317" y="187106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562814" y="1640443"/>
            <a:ext cx="367510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 Structural &amp; Functional Defects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62814" y="1967508"/>
            <a:ext cx="1209222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enhanced durability and functionality checks and stricter quality control gates during production for these high-impact categories. Focus corrective actions here to address ~80% of total defects.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3790" y="2692122"/>
            <a:ext cx="13042821" cy="1122164"/>
          </a:xfrm>
          <a:prstGeom prst="roundRect">
            <a:avLst>
              <a:gd name="adj" fmla="val 5943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6650" y="2714982"/>
            <a:ext cx="635079" cy="1076444"/>
          </a:xfrm>
          <a:prstGeom prst="roundRect">
            <a:avLst>
              <a:gd name="adj" fmla="val 6181"/>
            </a:avLst>
          </a:prstGeom>
          <a:solidFill>
            <a:srgbClr val="2F1D63"/>
          </a:solidFill>
          <a:ln/>
        </p:spPr>
      </p:sp>
      <p:sp>
        <p:nvSpPr>
          <p:cNvPr id="10" name="Text 8"/>
          <p:cNvSpPr/>
          <p:nvPr/>
        </p:nvSpPr>
        <p:spPr>
          <a:xfrm>
            <a:off x="1011317" y="310431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562814" y="2873693"/>
            <a:ext cx="2766060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Address High-Risk Machines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62814" y="3200757"/>
            <a:ext cx="1209222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targeted preventive maintenance on identified defect-prone machines. Retrain operators, review machine calibration, and monitor defect severity trends to catch early warning signs.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3790" y="3925372"/>
            <a:ext cx="13042821" cy="1122164"/>
          </a:xfrm>
          <a:prstGeom prst="roundRect">
            <a:avLst>
              <a:gd name="adj" fmla="val 5943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6650" y="3948232"/>
            <a:ext cx="635079" cy="1076444"/>
          </a:xfrm>
          <a:prstGeom prst="roundRect">
            <a:avLst>
              <a:gd name="adj" fmla="val 6181"/>
            </a:avLst>
          </a:prstGeom>
          <a:solidFill>
            <a:srgbClr val="2F1D63"/>
          </a:solidFill>
          <a:ln/>
        </p:spPr>
      </p:sp>
      <p:sp>
        <p:nvSpPr>
          <p:cNvPr id="15" name="Text 13"/>
          <p:cNvSpPr/>
          <p:nvPr/>
        </p:nvSpPr>
        <p:spPr>
          <a:xfrm>
            <a:off x="1011317" y="4337566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562814" y="4106942"/>
            <a:ext cx="2677597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Optimize Shift Management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62814" y="4434007"/>
            <a:ext cx="1209222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workload distribution, staffing levels, and process adherence for Friday–Sunday shifts. Introduce mid-shift audits or additional inspections and consider staff rotation to mitigate fatigue.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3790" y="5158621"/>
            <a:ext cx="13042821" cy="1122164"/>
          </a:xfrm>
          <a:prstGeom prst="roundRect">
            <a:avLst>
              <a:gd name="adj" fmla="val 5943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650" y="5181481"/>
            <a:ext cx="635079" cy="1076444"/>
          </a:xfrm>
          <a:prstGeom prst="roundRect">
            <a:avLst>
              <a:gd name="adj" fmla="val 6181"/>
            </a:avLst>
          </a:prstGeom>
          <a:solidFill>
            <a:srgbClr val="2F1D63"/>
          </a:solidFill>
          <a:ln/>
        </p:spPr>
      </p:sp>
      <p:sp>
        <p:nvSpPr>
          <p:cNvPr id="20" name="Text 18"/>
          <p:cNvSpPr/>
          <p:nvPr/>
        </p:nvSpPr>
        <p:spPr>
          <a:xfrm>
            <a:off x="1011317" y="557081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562814" y="5340191"/>
            <a:ext cx="3305413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Mitigate Seasonal &amp; Weekly Spikes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62814" y="5667256"/>
            <a:ext cx="1209222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 production planning and inspection schedules with high-risk periods (Q1, weeks 17–20). Increase monitoring during known defect spikes to proactively prevent escalation.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3790" y="6391870"/>
            <a:ext cx="13042821" cy="1122164"/>
          </a:xfrm>
          <a:prstGeom prst="roundRect">
            <a:avLst>
              <a:gd name="adj" fmla="val 5943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6650" y="6414730"/>
            <a:ext cx="635079" cy="1076444"/>
          </a:xfrm>
          <a:prstGeom prst="roundRect">
            <a:avLst>
              <a:gd name="adj" fmla="val 6181"/>
            </a:avLst>
          </a:prstGeom>
          <a:solidFill>
            <a:srgbClr val="2F1D63"/>
          </a:solidFill>
          <a:ln/>
        </p:spPr>
      </p:sp>
      <p:sp>
        <p:nvSpPr>
          <p:cNvPr id="25" name="Text 23"/>
          <p:cNvSpPr/>
          <p:nvPr/>
        </p:nvSpPr>
        <p:spPr>
          <a:xfrm>
            <a:off x="1011317" y="680406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1562814" y="6573441"/>
            <a:ext cx="307800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Implement Operational Strategy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62814" y="6900505"/>
            <a:ext cx="1209222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comprehensive risk scoring system for machines and shifts. Integrate these findings into real-time dashboards for proactive defect prevention and continuous quality improvement.</a:t>
            </a:r>
            <a:endParaRPr lang="en-US" sz="12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A6BFEF9-6547-0236-E7C3-54F65D647F16}"/>
                  </a:ext>
                </a:extLst>
              </p14:cNvPr>
              <p14:cNvContentPartPr/>
              <p14:nvPr/>
            </p14:nvContentPartPr>
            <p14:xfrm rot="2834149">
              <a:off x="13604209" y="7857265"/>
              <a:ext cx="229298" cy="103036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A6BFEF9-6547-0236-E7C3-54F65D647F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2834149">
                <a:off x="13541314" y="7794438"/>
                <a:ext cx="354729" cy="228331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0FC6891C-72F9-C63F-06F6-A828AF330A66}"/>
              </a:ext>
            </a:extLst>
          </p:cNvPr>
          <p:cNvGrpSpPr/>
          <p:nvPr/>
        </p:nvGrpSpPr>
        <p:grpSpPr>
          <a:xfrm>
            <a:off x="12944318" y="7760643"/>
            <a:ext cx="1541880" cy="381600"/>
            <a:chOff x="12944318" y="7760643"/>
            <a:chExt cx="154188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66B7998-3BAF-2507-ED2F-ED23E4C30069}"/>
                    </a:ext>
                  </a:extLst>
                </p14:cNvPr>
                <p14:cNvContentPartPr/>
                <p14:nvPr/>
              </p14:nvContentPartPr>
              <p14:xfrm>
                <a:off x="13783478" y="7760643"/>
                <a:ext cx="702720" cy="360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66B7998-3BAF-2507-ED2F-ED23E4C3006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720838" y="7698003"/>
                  <a:ext cx="8283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9E7F9E9-D66A-3865-D7A6-5C169D62CEED}"/>
                    </a:ext>
                  </a:extLst>
                </p14:cNvPr>
                <p14:cNvContentPartPr/>
                <p14:nvPr/>
              </p14:nvContentPartPr>
              <p14:xfrm>
                <a:off x="14233478" y="7827963"/>
                <a:ext cx="163080" cy="13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9E7F9E9-D66A-3865-D7A6-5C169D62CE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170478" y="7764963"/>
                  <a:ext cx="288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64AD09-CCED-CB25-BEF0-59A8671B2618}"/>
                    </a:ext>
                  </a:extLst>
                </p14:cNvPr>
                <p14:cNvContentPartPr/>
                <p14:nvPr/>
              </p14:nvContentPartPr>
              <p14:xfrm>
                <a:off x="12944318" y="7783683"/>
                <a:ext cx="711360" cy="35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564AD09-CCED-CB25-BEF0-59A8671B261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881678" y="7720683"/>
                  <a:ext cx="837000" cy="48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D5E05DB-CD92-96E4-A39D-5FA35152CA88}"/>
                  </a:ext>
                </a:extLst>
              </p14:cNvPr>
              <p14:cNvContentPartPr/>
              <p14:nvPr/>
            </p14:nvContentPartPr>
            <p14:xfrm>
              <a:off x="8295998" y="3668523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D5E05DB-CD92-96E4-A39D-5FA35152CA8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33358" y="360588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FF477-C9F3-36F6-03E7-D28192FFD756}"/>
              </a:ext>
            </a:extLst>
          </p:cNvPr>
          <p:cNvSpPr txBox="1"/>
          <p:nvPr/>
        </p:nvSpPr>
        <p:spPr>
          <a:xfrm>
            <a:off x="535258" y="82169"/>
            <a:ext cx="7315200" cy="64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Quality Model Evaluation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3D7E88-BF0B-F686-2C47-5820310CA9BC}"/>
              </a:ext>
            </a:extLst>
          </p:cNvPr>
          <p:cNvSpPr txBox="1"/>
          <p:nvPr/>
        </p:nvSpPr>
        <p:spPr>
          <a:xfrm>
            <a:off x="646771" y="725294"/>
            <a:ext cx="7315200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Summary of Baseline Model Performance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80561-EC4F-1EEB-83D8-C4F7E0C09333}"/>
              </a:ext>
            </a:extLst>
          </p:cNvPr>
          <p:cNvSpPr txBox="1"/>
          <p:nvPr/>
        </p:nvSpPr>
        <p:spPr>
          <a:xfrm>
            <a:off x="535258" y="1428680"/>
            <a:ext cx="13749453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initial evaluation of various predictive models highlights the complexity and inherent imbalance within our defect dataset. Performance metrics are crucial for identifying the most promising path forward.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613A98-2E57-4512-7440-8884C7B5FCC2}"/>
              </a:ext>
            </a:extLst>
          </p:cNvPr>
          <p:cNvSpPr txBox="1"/>
          <p:nvPr/>
        </p:nvSpPr>
        <p:spPr>
          <a:xfrm>
            <a:off x="223025" y="2218447"/>
            <a:ext cx="11753385" cy="263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2000"/>
              </a:lnSpc>
              <a:buSzPct val="100000"/>
            </a:pPr>
            <a:r>
              <a:rPr lang="en-US" sz="14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(Accuracy 33%):</a:t>
            </a: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While interpretable, this model struggles to accurately predict outcomes due to the imbalanced distribution of defect classes.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Naive Bayes (Accuracy 31%):</a:t>
            </a: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model proves too simplistic for the intricate patterns present in our defect data, yielding limited predictive power.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(Accuracy 34%):</a:t>
            </a: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Providing a slightly better baseline, its performance remains constrained by its linear nature when dealing with non-linear defect relationships.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AdaBoost (Accuracy 34%):</a:t>
            </a: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Shows some improvement with moderate defects but consistently underperforms in identifying critical defects, which are of highest business concern.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 err="1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r>
              <a:rPr lang="en-US" sz="14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(Default Run - Accuracy 28%):</a:t>
            </a: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Although the default run shows poor accuracy, </a:t>
            </a:r>
            <a:r>
              <a:rPr lang="en-US" sz="1400" dirty="0" err="1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its advanced ensemble capabilities, remains the most promising candidate for significant improvement through targeted tuning and class balancing.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B38780-ED3B-69D2-21AE-0CD44CF60A08}"/>
              </a:ext>
            </a:extLst>
          </p:cNvPr>
          <p:cNvSpPr txBox="1"/>
          <p:nvPr/>
        </p:nvSpPr>
        <p:spPr>
          <a:xfrm>
            <a:off x="880946" y="4857888"/>
            <a:ext cx="7315200" cy="42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Interpretation &amp; Next Steps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9EDAE-810C-D69F-E0DF-5B369EF829F4}"/>
              </a:ext>
            </a:extLst>
          </p:cNvPr>
          <p:cNvSpPr txBox="1"/>
          <p:nvPr/>
        </p:nvSpPr>
        <p:spPr>
          <a:xfrm>
            <a:off x="574287" y="5327496"/>
            <a:ext cx="15243717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performance of these baseline models underscores the complexity of our dataset and the critical need for a more sophisticated approach. A consistent weakness across all models is the detection of critical defects, which is paramount for minimizing business </a:t>
            </a:r>
            <a:r>
              <a:rPr lang="en-US" sz="1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impact.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5595A9-85C5-8404-05DD-716E242F581D}"/>
              </a:ext>
            </a:extLst>
          </p:cNvPr>
          <p:cNvSpPr txBox="1"/>
          <p:nvPr/>
        </p:nvSpPr>
        <p:spPr>
          <a:xfrm>
            <a:off x="223025" y="6114874"/>
            <a:ext cx="12913112" cy="110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recommended next step is to focus on </a:t>
            </a:r>
            <a:r>
              <a:rPr lang="en-US" sz="16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Boosting models</a:t>
            </a: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(such as </a:t>
            </a:r>
            <a:r>
              <a:rPr lang="en-US" sz="1600" dirty="0" err="1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600" dirty="0" err="1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</a:t>
            </a: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6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rigorous </a:t>
            </a:r>
            <a:r>
              <a:rPr lang="en-US" sz="16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tuning and class balancing techniques</a:t>
            </a: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address the dataset's inherent imbalances.</a:t>
            </a:r>
            <a:endParaRPr lang="en-US" sz="16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</a:t>
            </a:r>
            <a:r>
              <a:rPr lang="en-US" sz="16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for critical defects</a:t>
            </a: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model optimization to ensure that high-impact issues are identified and mitigated effectively, maximizing overall business value.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14669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1391</Words>
  <Application>Microsoft Office PowerPoint</Application>
  <PresentationFormat>Custom</PresentationFormat>
  <Paragraphs>139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Consolas</vt:lpstr>
      <vt:lpstr>Petrona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Priti</dc:creator>
  <cp:lastModifiedBy>priti.gavali1010@outlook.com</cp:lastModifiedBy>
  <cp:revision>5</cp:revision>
  <dcterms:created xsi:type="dcterms:W3CDTF">2026-03-01T09:08:58Z</dcterms:created>
  <dcterms:modified xsi:type="dcterms:W3CDTF">2026-03-01T11:13:05Z</dcterms:modified>
</cp:coreProperties>
</file>